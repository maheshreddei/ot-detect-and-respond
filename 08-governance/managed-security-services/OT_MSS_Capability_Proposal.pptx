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investment</c:v>
                </c:pt>
              </c:strCache>
            </c:strRef>
          </c:tx>
          <c:spPr>
            <a:solidFill>
              <a:srgbClr val="0E2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Phase 0-1</c:v>
                  </c:pt>
                  <c:pt idx="1">
                    <c:v>Pilot</c:v>
                  </c:pt>
                  <c:pt idx="2">
                    <c:v>Launch</c:v>
                  </c:pt>
                  <c:pt idx="3">
                    <c:v>Scale Y1</c:v>
                  </c:pt>
                  <c:pt idx="4">
                    <c:v>Scale Y2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45</c:v>
                </c:pt>
                <c:pt idx="3">
                  <c:v>60</c:v>
                </c:pt>
                <c:pt idx="4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revenue</c:v>
                </c:pt>
              </c:strCache>
            </c:strRef>
          </c:tx>
          <c:spPr>
            <a:solidFill>
              <a:srgbClr val="1280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Phase 0-1</c:v>
                  </c:pt>
                  <c:pt idx="1">
                    <c:v>Pilot</c:v>
                  </c:pt>
                  <c:pt idx="2">
                    <c:v>Launch</c:v>
                  </c:pt>
                  <c:pt idx="3">
                    <c:v>Scale Y1</c:v>
                  </c:pt>
                  <c:pt idx="4">
                    <c:v>Scale Y2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75</c:v>
                </c:pt>
                <c:pt idx="4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pitch: an OT capability inside the existing MSS is a growth and differentiation play, delivered as a staged, low-risk bet with a pilot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market + drivers. The close: demand is real and competitors are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Reassure: we're extending an existing platform, which lowers cost and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create an upsell path; co-managed is the right OT model because response stays with those who own the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prebuilt libraries are the moat and the accelerator.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an honest current-state, not a tool purchase. Gap = target - current, per lens.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staged plan with a gate is what makes 'yes' easy — low downside, conditional big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funds proven things; sales sells demonstrated things; clients buy referenced things. The pilot delivers all three cheaply.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choice is the biggest decision; co-managed keeps response with those who own the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Culture matters: safety outranks everything; passive/read-only; operations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 capped by the pilot gate; upside is differentiated ARR and larger convergence deals. Numbers are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overlap; time-to-first-value is early (quick-win detections during the pilot).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initiative is de-risked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asymmetry: small staged bet, pilot-gated, with a scarce premium capability as the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291840" cy="329184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A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·  MSS CYBER DEFENSE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OT Security Capability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our MSS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3794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staged, low-risk plan to launch a differentiated OT/ICS monitoring service — from discovery to a pilot-proven, revenue-generating offering.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2743200" cy="45720"/>
          </a:xfrm>
          <a:prstGeom prst="roundRect">
            <a:avLst>
              <a:gd name="adj" fmla="val 40000"/>
            </a:avLst>
          </a:prstGeom>
          <a:solidFill>
            <a:srgbClr val="1280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OT Security Lead   ·  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 — and why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is the fastest-growing, least-served segment of managed security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110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46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Physical-impact threats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1122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TRITON, Colonial Pipeline, Oldsmar, Ukraine grid — OT is targeted and boards know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160020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11096"/>
            <a:ext cx="548640" cy="548640"/>
          </a:xfrm>
          <a:prstGeom prst="ellipse">
            <a:avLst/>
          </a:prstGeom>
          <a:solidFill>
            <a:srgbClr val="12808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110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05472" y="1746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 is forcing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05472" y="21122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62443, NIST 800-82; NIS2, NERC CIP; in the GCC, UAE IA/NESA and KSA NCA (ECC/OTCC).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337560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172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IT/OT convergence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538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access, IIoT and cloud have erased the air gap — clients have exposure and no visibility.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3026664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337560"/>
            <a:ext cx="548640" cy="548640"/>
          </a:xfrm>
          <a:prstGeom prst="ellipse">
            <a:avLst/>
          </a:prstGeom>
          <a:solidFill>
            <a:srgbClr val="1280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05472" y="3172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MSS still offer IT only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05472" y="3538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OT-specific service is a clear differentiator and a premium, scarce capability.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with OT exposure will buy OT MDR from someone. The question is whether it's us.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monitor our clients' IT. We can't yet monitor their 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8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MSS already has  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SOAR, ticketing, case management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shift model, escalation, on-call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&amp; multi-tenancy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IT/OT boundary visibility (firewall, VPN, jump host)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MDR runbooks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64592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BEEDA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9672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OT service additionally needs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65392" y="233172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NDR platform (Nozomi / Dragos / Claroty)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protocol, physics &amp; safety detection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OT-capable analysts &amp; safety-first doctrine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OT-safe IR (passive, operations-in-the-loop)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productized, priceable OT service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foundation is reusable — this is an extension, not a greenfield build.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propose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productized, tiered OT monitoring service — co-managed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39776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40280"/>
            <a:ext cx="3657600" cy="2743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+ IT/OT boundary &amp; remote-access detection + IR readiness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Early-maturity / regulatory starter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62272" y="1691640"/>
            <a:ext cx="3657600" cy="39776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69164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12808C"/>
          </a:solidFill>
          <a:ln/>
        </p:spPr>
      </p:sp>
      <p:sp>
        <p:nvSpPr>
          <p:cNvPr id="13" name="Shape 11"/>
          <p:cNvSpPr/>
          <p:nvPr/>
        </p:nvSpPr>
        <p:spPr>
          <a:xfrm>
            <a:off x="4462272" y="2240280"/>
            <a:ext cx="3657600" cy="274320"/>
          </a:xfrm>
          <a:prstGeom prst="rect">
            <a:avLst/>
          </a:prstGeom>
          <a:solidFill>
            <a:srgbClr val="12808C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737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36592" y="2743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protocol &amp; Sigma detection, historian/physics detection, 24/7 monitoring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36592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592" y="4983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wanting real detection depth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75904" y="1691640"/>
            <a:ext cx="3657600" cy="39776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169164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E9A828"/>
          </a:solidFill>
          <a:ln/>
        </p:spPr>
      </p:sp>
      <p:sp>
        <p:nvSpPr>
          <p:cNvPr id="20" name="Shape 18"/>
          <p:cNvSpPr/>
          <p:nvPr/>
        </p:nvSpPr>
        <p:spPr>
          <a:xfrm>
            <a:off x="8375904" y="2240280"/>
            <a:ext cx="3657600" cy="274320"/>
          </a:xfrm>
          <a:prstGeom prst="rect">
            <a:avLst/>
          </a:prstGeom>
          <a:solidFill>
            <a:srgbClr val="E9A828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1737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Safety-critical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650224" y="2743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SIS/safety-system monitoring, IT perimeter, threat hunting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50224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50224" y="4983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E9A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High-consequence sites (O&amp;G, power)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model: co-managed — the client keeps operations &amp; response authority; we bring detection, tooling and 24/7 monitoring.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 — the differentiation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that repurposed IT SOCs can't match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56816"/>
            <a:ext cx="548640" cy="548640"/>
          </a:xfrm>
          <a:prstGeom prst="ellipse">
            <a:avLst/>
          </a:prstGeom>
          <a:solidFill>
            <a:srgbClr val="E9A82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OT-specific, not repurposed IT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21762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credibility that wins with plant engineers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164592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56816"/>
            <a:ext cx="548640" cy="548640"/>
          </a:xfrm>
          <a:prstGeom prst="ellipse">
            <a:avLst/>
          </a:prstGeom>
          <a:solidFill>
            <a:srgbClr val="E9A82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05472" y="1810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&amp; safety-system detection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05472" y="21762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 baseline/deviation and SIS monitoring few competitors offer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383280"/>
            <a:ext cx="548640" cy="548640"/>
          </a:xfrm>
          <a:prstGeom prst="ellipse">
            <a:avLst/>
          </a:prstGeom>
          <a:solidFill>
            <a:srgbClr val="E9A82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64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236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Prebuilt, ATT&amp;CK-mapped content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63040" y="360273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time-to-value and deeper coverage than a from-scratch build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3072384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383280"/>
            <a:ext cx="548640" cy="548640"/>
          </a:xfrm>
          <a:prstGeom prst="ellipse">
            <a:avLst/>
          </a:prstGeom>
          <a:solidFill>
            <a:srgbClr val="E9A828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364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05472" y="3236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End-to-end, on our existing platform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05472" y="360273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→ run, with OT-safe IR, at lower incremental cost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the detection IP. This initiative turns it into a service.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start — discovery across four lenses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gap between what we can do today and what an OT service needs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640080" cy="64008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capability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44144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of our SIEM/SOAR/shift model &amp; existing OT-adjacent visibility already transfers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1072" y="169164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7104" y="1965960"/>
            <a:ext cx="640080" cy="640080"/>
          </a:xfrm>
          <a:prstGeom prst="ellipse">
            <a:avLst/>
          </a:prstGeom>
          <a:solidFill>
            <a:srgbClr val="12808C"/>
          </a:solidFill>
          <a:ln/>
        </p:spPr>
      </p:sp>
      <p:sp>
        <p:nvSpPr>
          <p:cNvPr id="11" name="Text 9"/>
          <p:cNvSpPr/>
          <p:nvPr/>
        </p:nvSpPr>
        <p:spPr>
          <a:xfrm>
            <a:off x="6547104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42632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42632" y="244144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protocols, Purdue, ICS threats, safety doctrine — then train / hire / partner per gap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922776"/>
            <a:ext cx="640080" cy="640080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922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9227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39826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OT NDR we standardize on; multi-tenancy, SIEM integration, partner margins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91072" y="3648456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47104" y="3922776"/>
            <a:ext cx="640080" cy="640080"/>
          </a:xfrm>
          <a:prstGeom prst="ellipse">
            <a:avLst/>
          </a:prstGeom>
          <a:solidFill>
            <a:srgbClr val="E9A828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104" y="3922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42632" y="39227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/ commercial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42632" y="439826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Tiers, co-managed delivery, SLAs, pricing, target market — the offering itself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 — staged, with a decision 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investment is conditional on a low-cost pilot proving the capability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700" y="2514600"/>
            <a:ext cx="731520" cy="7315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lenses,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67712" y="2743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395728" y="228600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1508" y="2514600"/>
            <a:ext cx="731520" cy="73152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12" name="Text 10"/>
          <p:cNvSpPr/>
          <p:nvPr/>
        </p:nvSpPr>
        <p:spPr>
          <a:xfrm>
            <a:off x="2921508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7168" y="33375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87168" y="37033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platform,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60520" y="2743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288536" y="228600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4316" y="2514600"/>
            <a:ext cx="731520" cy="731520"/>
          </a:xfrm>
          <a:prstGeom prst="ellipse">
            <a:avLst/>
          </a:prstGeom>
          <a:solidFill>
            <a:srgbClr val="12808C"/>
          </a:solidFill>
          <a:ln/>
        </p:spPr>
      </p:sp>
      <p:sp>
        <p:nvSpPr>
          <p:cNvPr id="18" name="Text 16"/>
          <p:cNvSpPr/>
          <p:nvPr/>
        </p:nvSpPr>
        <p:spPr>
          <a:xfrm>
            <a:off x="4814316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379976" y="33375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Pilot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79976" y="37033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skills,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pilot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53328" y="2743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181344" y="228600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FBEEDA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07124" y="2514600"/>
            <a:ext cx="731520" cy="731520"/>
          </a:xfrm>
          <a:prstGeom prst="ellipse">
            <a:avLst/>
          </a:prstGeom>
          <a:solidFill>
            <a:srgbClr val="E9A828"/>
          </a:solidFill>
          <a:ln/>
        </p:spPr>
      </p:sp>
      <p:sp>
        <p:nvSpPr>
          <p:cNvPr id="24" name="Text 22"/>
          <p:cNvSpPr/>
          <p:nvPr/>
        </p:nvSpPr>
        <p:spPr>
          <a:xfrm>
            <a:off x="6707124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72784" y="33375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72784" y="37033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46136" y="2743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074152" y="228600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99932" y="2514600"/>
            <a:ext cx="731520" cy="731520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30" name="Text 28"/>
          <p:cNvSpPr/>
          <p:nvPr/>
        </p:nvSpPr>
        <p:spPr>
          <a:xfrm>
            <a:off x="8599932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165592" y="33375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65592" y="37033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go-to-market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38944" y="2743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9966960" y="228600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492740" y="2514600"/>
            <a:ext cx="731520" cy="731520"/>
          </a:xfrm>
          <a:prstGeom prst="ellipse">
            <a:avLst/>
          </a:prstGeom>
          <a:solidFill>
            <a:srgbClr val="12808C"/>
          </a:solidFill>
          <a:ln/>
        </p:spPr>
      </p:sp>
      <p:sp>
        <p:nvSpPr>
          <p:cNvPr id="36" name="Text 34"/>
          <p:cNvSpPr/>
          <p:nvPr/>
        </p:nvSpPr>
        <p:spPr>
          <a:xfrm>
            <a:off x="1049274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058400" y="33375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058400" y="37033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clients,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tiers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~5–6 months from start to a launched, pilot-proven service — adjust to procurement &amp; hiring speed.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protects the P&amp;L: Phases 0–1 are mostly effort; platform &amp; hiring spend commits only after the pilot.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— our decision 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proposal into demonstrated capability, a case study, and a trained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— kept deliberately tight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lab and/or one friendly client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NDR + Tier-1 log onboarding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detections: IT/OT crossing, remote access, a few protocol writes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IR playbooks, tabletop-tested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7F2F0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9672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 = the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37744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passively — zero operational disruption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visibility + baseline established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Working, validated detections demonstrated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detection → triage → response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sign-off / client reference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can run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criteria → go to launch. Miss them → adjust and re-run, with only the small pilot spend at risk.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delivery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defining technical + commercial decision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 NDR selection criteria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Nozomi  ·  Dragos  ·  Claroty — scored on: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&amp; detection coverage for our sectors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/ MSSP fit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our SIEM/SOAR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that maps to our pricing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 — tier, enablement, margins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6916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Co-managed delivery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9672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keeps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2651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Operations context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Authority to act on OT assets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decisions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05256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2651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Detection engineering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NDR tooling &amp; platform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24/7 monitoring &amp; triage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19672" y="411480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02552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one platform, not two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02552" y="459028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NDR alerts feed our existing SIEM/SOAR for correlation, unified reporting and reuse of playbooks — with OT-safe guardrails.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team — train, hire, partner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gap is the real constraint — plan all three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3657600" cy="2743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Upskill our nucleus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with network / DFIR / hunting strengths adapt well. GICSP, SANS ICS410 / ICS515, vendor academies.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62272" y="1737360"/>
            <a:ext cx="36576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173736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12808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62272" y="2148840"/>
            <a:ext cx="3657600" cy="274320"/>
          </a:xfrm>
          <a:prstGeom prst="rect">
            <a:avLst/>
          </a:prstGeom>
          <a:solidFill>
            <a:srgbClr val="12808C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36592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 the team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36592" y="30632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experienced OT people to lead detection engineering &amp; architecture and mentor the nucleus.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75904" y="1737360"/>
            <a:ext cx="36576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173736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E9A828"/>
          </a:solidFill>
          <a:ln/>
        </p:spPr>
      </p:sp>
      <p:sp>
        <p:nvSpPr>
          <p:cNvPr id="18" name="Shape 16"/>
          <p:cNvSpPr/>
          <p:nvPr/>
        </p:nvSpPr>
        <p:spPr>
          <a:xfrm>
            <a:off x="8375904" y="2148840"/>
            <a:ext cx="3657600" cy="274320"/>
          </a:xfrm>
          <a:prstGeom prst="rect">
            <a:avLst/>
          </a:prstGeom>
          <a:solidFill>
            <a:srgbClr val="E9A828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50224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the thin spots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50224" y="30632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for on-site deployment, contractors for surge, vendor PS for complex builds — while we build depth.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2F5F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852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lean: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03120" y="525780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anchor lead + a trained nucleus + shared MSS functions can run the pilot and Essential tier. Scale analysts as clients onboard. Bake in safety-first doctrine from day one.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&amp; pricing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spend, deferred until the pilot proves it — premium recurring revenue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023360"/>
          </a:xfrm>
          <a:prstGeom prst="roundRect">
            <a:avLst>
              <a:gd name="adj" fmla="val 2045"/>
            </a:avLst>
          </a:prstGeom>
          <a:solidFill>
            <a:srgbClr val="F2F5F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Staged, low-risk spend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0–1: mostly internal effort (cheap)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gate: platform + anchor hire(s)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scale-up: demand-driven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reuses existing SIEM/SOAR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370832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MSS subscription (per site / sensor / asset), tiered Essential → Safety-critical, with fixed-price onboarding. Premium justified by scarcity &amp; consequence.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investment vs. revenue ramp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852160" y="210312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852160" y="57150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shape only — replace with your figures. Break-even after launch; existing IT clients with OT exposure are the fastest pipeline.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~5–6 months to a launched, pilot-proven service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0" cy="388620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1847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2148840"/>
            <a:ext cx="0" cy="388620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847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2148840"/>
            <a:ext cx="0" cy="388620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847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2148840"/>
            <a:ext cx="0" cy="388620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847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2148840"/>
            <a:ext cx="0" cy="388620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847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95360" y="2148840"/>
            <a:ext cx="0" cy="388620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1847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149840" y="2148840"/>
            <a:ext cx="0" cy="388620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1945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87168" y="2194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377440" y="301752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13385C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14600" y="3017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41648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31920" y="3840480"/>
            <a:ext cx="3886200" cy="548640"/>
          </a:xfrm>
          <a:prstGeom prst="roundRect">
            <a:avLst>
              <a:gd name="adj" fmla="val 10000"/>
            </a:avLst>
          </a:prstGeom>
          <a:solidFill>
            <a:srgbClr val="12808C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69080" y="38404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Pilot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18120" y="46634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3FA7B0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0" y="4663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82328" y="4663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72600" y="5486400"/>
            <a:ext cx="1399032" cy="548640"/>
          </a:xfrm>
          <a:prstGeom prst="roundRect">
            <a:avLst>
              <a:gd name="adj" fmla="val 10000"/>
            </a:avLst>
          </a:prstGeom>
          <a:solidFill>
            <a:srgbClr val="E9A82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509760" y="5486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881360" y="5486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98664" y="3895344"/>
            <a:ext cx="438912" cy="438912"/>
          </a:xfrm>
          <a:prstGeom prst="ellipse">
            <a:avLst/>
          </a:prstGeom>
          <a:solidFill>
            <a:srgbClr val="E9A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98664" y="3886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110728" y="3794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gate</a:t>
            </a: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pilot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2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material risk has a mitigation built into the plan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75104"/>
            <a:ext cx="502920" cy="5029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56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scarcity / slow hiring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762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nucleus early; anchor hire; partner for surge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164592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75104"/>
            <a:ext cx="502920" cy="5029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56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05472" y="18013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platform choice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05472" y="21762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selection; pilot before committing at scale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328416"/>
            <a:ext cx="502920" cy="5029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154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 demand / long sales cycles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5295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Phase 0; start with existing clients' OT exposure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91072" y="2999232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328416"/>
            <a:ext cx="502920" cy="5029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05472" y="3154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Under-estimating deployment effort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05472" y="35295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honestly; partner with SIs; pilot to learn real effort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52544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4681728"/>
            <a:ext cx="502920" cy="5029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5079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Treating OT like IT (credibility loss)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8828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doctrine + OT-specific content + anchor hire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1072" y="4352544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4681728"/>
            <a:ext cx="502920" cy="5029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05472" y="45079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before proof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05472" y="48828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plan with a pilot gate — big spend is conditional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Capability  ·  MSS Cyber Defense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4023360" cy="402336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840480" cy="384048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A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a small, staged bet with a pilot gate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1280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980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Phases 0–1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60" y="29809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service definition, business case — mostly internal effort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12808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30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an executive sponsor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37307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own the P&amp;L conversation and decisions at each gate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17136"/>
            <a:ext cx="457200" cy="457200"/>
          </a:xfrm>
          <a:prstGeom prst="ellipse">
            <a:avLst/>
          </a:prstGeom>
          <a:solidFill>
            <a:srgbClr val="12808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17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 cross-functional support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52160" y="44805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pre-sales, delivery / ops, existing SOC leadership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266944"/>
            <a:ext cx="457200" cy="457200"/>
          </a:xfrm>
          <a:prstGeom prst="ellipse">
            <a:avLst/>
          </a:prstGeom>
          <a:solidFill>
            <a:srgbClr val="12808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266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5230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the pilot gate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2160" y="52303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hiring spend only after the pilot proves the capability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9A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downside, capped by the pilot. Differentiated, premium, in-demand upside.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2026-08-04T03:04:00Z</dcterms:created>
  <dcterms:modified xsi:type="dcterms:W3CDTF">2026-08-04T03:04:00Z</dcterms:modified>
</cp:coreProperties>
</file>